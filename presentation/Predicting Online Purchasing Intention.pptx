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36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2ABF-1ED9-E05C-7599-CECA69861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02C32-1B15-E6EE-8353-DE314E345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87BAB-9583-98CA-9C86-73749CCE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C6C3B-1AD3-35A4-4241-3F0E3606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AA32A-9A62-50D7-D016-A16ECC3C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52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05AF-37CC-70BE-7E92-AAC498F61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8312-DE59-420B-EFA0-2CBE5E9ED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7A31F-3280-2F59-165D-E450040C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5796B-5A9E-EFF9-7226-BD221391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47B86-2E9D-9267-CF87-882E3238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27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9F51-E345-903B-B37A-BEA511F4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A56D6-3DE9-894E-4CA0-9D15F5C04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06A14-EF31-1A7A-5523-AABFE799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F377-4FB8-AAF3-7454-C47DA9EB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1C8B-143F-6CBC-2618-1427FA28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7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17F8-E175-BB07-1587-BE63BDFA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8BC5-E237-51EE-6D61-0143D0C7F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210EB-1C77-D6ED-0015-CB792CFB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A25AC-4E4F-57B6-6517-DE8BFADE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7B904-C09F-DF4D-623B-92D109D2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D7C8D-6B4F-7D43-A171-5EE6E141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31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FAC5-A657-5440-C504-AAF00033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17F32-D4FD-3B7F-576E-43FB25D48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B3136-9D80-2AEA-7DDA-360F7589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2CC74-7923-1D1D-F4A5-3EFDA4CAC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89C03-286B-B455-E879-399246138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E7486-4272-7FA6-3F22-7865A82B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8A851-EE08-0226-7691-8E97CD41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20590-90B6-4144-A3EC-CE397D8B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83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5A6F-9293-B6C9-E216-0289F6AE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4795B-8800-15E2-FEBB-4462C0AD6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F74B4-37C0-89E1-D2E7-AB44BC37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72921-8208-1A39-3A1A-45A899FD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56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495E7-4077-45F9-DA49-7CBFA360D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EB773-B38C-6272-E9D7-7A8932BA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27A2F-CFC3-DEC4-D122-C5EC6552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70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8A2D-9AB9-A232-4464-C75F7AC4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DCAFB-25B7-3283-9CE4-C1B578003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AE354-C543-F5ED-D33A-B70FDF5F1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5F8A-27AA-E7D8-21A9-5B7BA928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7A361-B3BB-5BD6-3D21-52AFEBE2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AA804-85E3-D6C1-63A3-4BE37B73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89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F8E1-DD3B-1DF5-BC29-70E2E5FC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B7700-5C21-86CF-D628-FF7412DF1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830A4-450E-E928-AA13-49B22B89F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5AA6E-BEC4-948D-1896-97639130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966BC-A945-5FFE-6431-33C92E5E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2B558-2398-05A6-3545-F5DFB8D7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96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C704-375F-E894-0A3C-3F0023A6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33493-B602-2177-114D-D51BC48DD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0D18D-1A5B-A6C8-E1E8-06B8B003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DE94E-FB21-6CC3-C5D8-B0E19972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F39CE-E7D4-9BCC-0E4E-97B52DBF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06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E198C-E1B1-76B3-B95B-C69774C09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43483-6FD1-A2FB-BBE8-1FD12B8BB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418C3-13B4-BBDE-3FD1-3D903E5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E7770-70C0-2A6D-5CAE-4C9DE6DE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2B2-80E3-3BBB-A321-B3566DA2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210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E02B9-F333-247F-0CA9-8A387221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37907-C79A-1C88-49D5-BFB173E6E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C94E1-881F-8A5B-C2C7-F7A79FA85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61BC9-437C-4513-87B8-077B7E0B1EC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4B3E6-FBA6-CCF0-D5A7-99B917F1A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B7696-B449-57B5-6826-BE574511B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7A8AD-7D31-48B1-8B36-BCAF8B95C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07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A3CDA4-01C8-426D-DF4B-0D9FC454D6CF}"/>
              </a:ext>
            </a:extLst>
          </p:cNvPr>
          <p:cNvSpPr txBox="1"/>
          <p:nvPr/>
        </p:nvSpPr>
        <p:spPr>
          <a:xfrm>
            <a:off x="349623" y="256093"/>
            <a:ext cx="4690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altLang="zh-CN" sz="2000" b="1" dirty="0"/>
              <a:t>Predicting Online Purchasing Intention</a:t>
            </a:r>
            <a:endParaRPr lang="zh-CN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7911D-94B7-5D91-44DA-2973F65573B0}"/>
              </a:ext>
            </a:extLst>
          </p:cNvPr>
          <p:cNvSpPr txBox="1"/>
          <p:nvPr/>
        </p:nvSpPr>
        <p:spPr>
          <a:xfrm>
            <a:off x="349624" y="656203"/>
            <a:ext cx="50202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goal of this project is to predict whether an online user session will result in a purchase.</a:t>
            </a:r>
            <a:br>
              <a:rPr lang="en-US" altLang="zh-CN" dirty="0"/>
            </a:br>
            <a:r>
              <a:rPr lang="en-US" altLang="zh-CN" dirty="0"/>
              <a:t>Each observation represents a single browsing session, and the target variable indicates whether a transaction occurred.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ADCDE-2BC4-95DE-2D5A-CDC7575A9633}"/>
              </a:ext>
            </a:extLst>
          </p:cNvPr>
          <p:cNvSpPr txBox="1"/>
          <p:nvPr/>
        </p:nvSpPr>
        <p:spPr>
          <a:xfrm>
            <a:off x="224060" y="6017131"/>
            <a:ext cx="5764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main challenge of this task is severe class imbalance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F25D61-2F5E-6424-0EED-B8EB0BE61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2" y="2175121"/>
            <a:ext cx="4634613" cy="358021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7AB635-2421-1024-BBBE-AA4B1FAECB69}"/>
              </a:ext>
            </a:extLst>
          </p:cNvPr>
          <p:cNvCxnSpPr>
            <a:cxnSpLocks/>
          </p:cNvCxnSpPr>
          <p:nvPr/>
        </p:nvCxnSpPr>
        <p:spPr>
          <a:xfrm>
            <a:off x="5481917" y="2653553"/>
            <a:ext cx="1416422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09791A-6F1E-E25C-D44C-E8C859DBBECA}"/>
              </a:ext>
            </a:extLst>
          </p:cNvPr>
          <p:cNvSpPr txBox="1"/>
          <p:nvPr/>
        </p:nvSpPr>
        <p:spPr>
          <a:xfrm>
            <a:off x="5481917" y="2090556"/>
            <a:ext cx="1228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b="1" dirty="0"/>
              <a:t>Challenge</a:t>
            </a:r>
            <a:endParaRPr lang="zh-CN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12CC95-0C04-F378-C33B-1E6DFFC6A296}"/>
              </a:ext>
            </a:extLst>
          </p:cNvPr>
          <p:cNvSpPr txBox="1"/>
          <p:nvPr/>
        </p:nvSpPr>
        <p:spPr>
          <a:xfrm>
            <a:off x="7207764" y="456148"/>
            <a:ext cx="34424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dirty="0"/>
              <a:t>Class Imbalance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Right-skewed distributions and extreme values</a:t>
            </a:r>
          </a:p>
          <a:p>
            <a:endParaRPr lang="en-US" altLang="zh-CN" dirty="0"/>
          </a:p>
          <a:p>
            <a:r>
              <a:rPr lang="en-US" altLang="zh-CN" dirty="0"/>
              <a:t>Purchasing intention is not directly observable</a:t>
            </a:r>
          </a:p>
          <a:p>
            <a:endParaRPr lang="en-US" altLang="zh-CN" dirty="0"/>
          </a:p>
          <a:p>
            <a:r>
              <a:rPr lang="pl-PL" altLang="zh-CN" dirty="0"/>
              <a:t>Data Leakage</a:t>
            </a:r>
            <a:endParaRPr lang="zh-CN" alt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E95698-07FA-6948-5689-8F5CF49FA8A7}"/>
              </a:ext>
            </a:extLst>
          </p:cNvPr>
          <p:cNvCxnSpPr>
            <a:cxnSpLocks/>
          </p:cNvCxnSpPr>
          <p:nvPr/>
        </p:nvCxnSpPr>
        <p:spPr>
          <a:xfrm>
            <a:off x="8386485" y="3181254"/>
            <a:ext cx="0" cy="941293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AF490F-AB52-B9F6-D05C-34257CE43530}"/>
              </a:ext>
            </a:extLst>
          </p:cNvPr>
          <p:cNvSpPr txBox="1"/>
          <p:nvPr/>
        </p:nvSpPr>
        <p:spPr>
          <a:xfrm>
            <a:off x="8700246" y="3328736"/>
            <a:ext cx="122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</a:t>
            </a:r>
            <a:r>
              <a:rPr lang="pl-PL" altLang="zh-CN" b="1" dirty="0"/>
              <a:t>odeling pipeline</a:t>
            </a:r>
            <a:endParaRPr lang="zh-CN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6F02C3-60C1-FC9D-A2C0-5BAEE84436F0}"/>
              </a:ext>
            </a:extLst>
          </p:cNvPr>
          <p:cNvSpPr txBox="1"/>
          <p:nvPr/>
        </p:nvSpPr>
        <p:spPr>
          <a:xfrm>
            <a:off x="7207764" y="4652682"/>
            <a:ext cx="3971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Feature engineering, preprocessing, resampling, and model training in a leakage-safe manner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826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D0F017-9165-5E7D-FC40-6320892FC831}"/>
              </a:ext>
            </a:extLst>
          </p:cNvPr>
          <p:cNvSpPr txBox="1"/>
          <p:nvPr/>
        </p:nvSpPr>
        <p:spPr>
          <a:xfrm>
            <a:off x="439269" y="656202"/>
            <a:ext cx="114300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dirty="0"/>
              <a:t>Behavioral Intensity</a:t>
            </a:r>
            <a:r>
              <a:rPr lang="en-US" altLang="zh-CN" dirty="0"/>
              <a:t>: </a:t>
            </a:r>
            <a:r>
              <a:rPr lang="en-US" altLang="zh-CN" b="1" dirty="0" err="1"/>
              <a:t>TotalPages</a:t>
            </a:r>
            <a:r>
              <a:rPr lang="en-US" altLang="zh-CN" dirty="0"/>
              <a:t>: total number of pages visited, </a:t>
            </a:r>
            <a:r>
              <a:rPr lang="en-US" altLang="zh-CN" b="1" dirty="0" err="1"/>
              <a:t>TotalDuration</a:t>
            </a:r>
            <a:r>
              <a:rPr lang="en-US" altLang="zh-CN" dirty="0"/>
              <a:t>: total time spent during the session</a:t>
            </a:r>
          </a:p>
          <a:p>
            <a:endParaRPr lang="en-US" altLang="zh-CN" dirty="0"/>
          </a:p>
          <a:p>
            <a:r>
              <a:rPr lang="pl-PL" altLang="zh-CN" dirty="0"/>
              <a:t>Interaction Efficiency</a:t>
            </a:r>
            <a:r>
              <a:rPr lang="en-US" altLang="zh-CN" dirty="0"/>
              <a:t>: </a:t>
            </a:r>
            <a:r>
              <a:rPr lang="pl-PL" altLang="zh-CN" b="1" dirty="0"/>
              <a:t>AvgAdminTime</a:t>
            </a:r>
            <a:r>
              <a:rPr lang="pl-PL" altLang="zh-CN" dirty="0"/>
              <a:t>, </a:t>
            </a:r>
            <a:r>
              <a:rPr lang="pl-PL" altLang="zh-CN" b="1" dirty="0"/>
              <a:t>AvgInfoTime</a:t>
            </a:r>
            <a:r>
              <a:rPr lang="pl-PL" altLang="zh-CN" dirty="0"/>
              <a:t>, </a:t>
            </a:r>
            <a:r>
              <a:rPr lang="pl-PL" altLang="zh-CN" b="1" dirty="0"/>
              <a:t>AvgProdTime</a:t>
            </a:r>
            <a:r>
              <a:rPr lang="en-US" altLang="zh-CN" b="1" dirty="0"/>
              <a:t>, </a:t>
            </a:r>
            <a:r>
              <a:rPr lang="pl-PL" altLang="zh-CN" b="1" dirty="0"/>
              <a:t>AvgTimePerPage</a:t>
            </a:r>
            <a:endParaRPr lang="en-US" altLang="zh-CN" b="1" dirty="0"/>
          </a:p>
          <a:p>
            <a:endParaRPr lang="en-US" altLang="zh-CN" dirty="0"/>
          </a:p>
          <a:p>
            <a:r>
              <a:rPr lang="pl-PL" altLang="zh-CN" dirty="0"/>
              <a:t>Intent Signal Strength</a:t>
            </a:r>
            <a:r>
              <a:rPr lang="en-US" altLang="zh-CN" dirty="0"/>
              <a:t>: </a:t>
            </a:r>
            <a:r>
              <a:rPr lang="pl-PL" altLang="zh-CN" b="1" dirty="0"/>
              <a:t>PageValuesPerDuration</a:t>
            </a:r>
            <a:r>
              <a:rPr lang="en-US" altLang="zh-CN" b="1" dirty="0"/>
              <a:t>, </a:t>
            </a:r>
            <a:r>
              <a:rPr lang="pl-PL" altLang="zh-CN" b="1" dirty="0"/>
              <a:t>PageValuesPerPage</a:t>
            </a:r>
            <a:r>
              <a:rPr lang="en-US" altLang="zh-CN" b="1" dirty="0"/>
              <a:t>, </a:t>
            </a:r>
            <a:r>
              <a:rPr lang="pl-PL" altLang="zh-CN" b="1" dirty="0"/>
              <a:t>HasPageValues</a:t>
            </a:r>
            <a:endParaRPr lang="en-US" altLang="zh-CN" b="1" dirty="0"/>
          </a:p>
          <a:p>
            <a:endParaRPr lang="en-US" altLang="zh-CN" dirty="0"/>
          </a:p>
          <a:p>
            <a:r>
              <a:rPr lang="pl-PL" altLang="zh-CN" dirty="0"/>
              <a:t>Bounce &amp; Exit Interaction</a:t>
            </a:r>
            <a:r>
              <a:rPr lang="en-US" altLang="zh-CN" dirty="0"/>
              <a:t>: </a:t>
            </a:r>
            <a:r>
              <a:rPr lang="pl-PL" altLang="zh-CN" b="1" dirty="0"/>
              <a:t>ExitMinusBounce</a:t>
            </a:r>
            <a:r>
              <a:rPr lang="en-US" altLang="zh-CN" b="1" dirty="0"/>
              <a:t>, </a:t>
            </a:r>
            <a:r>
              <a:rPr lang="pl-PL" altLang="zh-CN" b="1" dirty="0"/>
              <a:t>ExitTimesBounce</a:t>
            </a:r>
            <a:endParaRPr lang="en-US" altLang="zh-CN" b="1" dirty="0"/>
          </a:p>
          <a:p>
            <a:endParaRPr lang="en-US" altLang="zh-CN" dirty="0"/>
          </a:p>
          <a:p>
            <a:r>
              <a:rPr lang="pl-PL" altLang="zh-CN" dirty="0"/>
              <a:t>Business Context Encoding</a:t>
            </a:r>
            <a:r>
              <a:rPr lang="en-US" altLang="zh-CN" dirty="0"/>
              <a:t>: </a:t>
            </a:r>
            <a:r>
              <a:rPr lang="pl-PL" altLang="zh-CN" b="1" dirty="0"/>
              <a:t>IsSpecialDay</a:t>
            </a:r>
            <a:r>
              <a:rPr lang="en-US" altLang="zh-CN" b="1" dirty="0"/>
              <a:t>, </a:t>
            </a:r>
            <a:r>
              <a:rPr lang="pl-PL" altLang="zh-CN" b="1" dirty="0"/>
              <a:t>Weekend_int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2BAE0-E0E7-E448-2FFE-142596D2F3DE}"/>
              </a:ext>
            </a:extLst>
          </p:cNvPr>
          <p:cNvSpPr txBox="1"/>
          <p:nvPr/>
        </p:nvSpPr>
        <p:spPr>
          <a:xfrm>
            <a:off x="439269" y="286870"/>
            <a:ext cx="258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b="1" dirty="0"/>
              <a:t>Feature Group</a:t>
            </a:r>
            <a:r>
              <a:rPr lang="en-US" altLang="zh-CN" b="1" dirty="0"/>
              <a:t>s</a:t>
            </a:r>
            <a:endParaRPr lang="zh-CN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36D580-1F32-1C93-9197-51902EB8D9ED}"/>
              </a:ext>
            </a:extLst>
          </p:cNvPr>
          <p:cNvSpPr txBox="1"/>
          <p:nvPr/>
        </p:nvSpPr>
        <p:spPr>
          <a:xfrm>
            <a:off x="439269" y="3429000"/>
            <a:ext cx="168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Split dataset</a:t>
            </a:r>
            <a:endParaRPr lang="zh-CN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1E758-4EB3-FA1F-87DB-88C6B85DFB9E}"/>
              </a:ext>
            </a:extLst>
          </p:cNvPr>
          <p:cNvSpPr txBox="1"/>
          <p:nvPr/>
        </p:nvSpPr>
        <p:spPr>
          <a:xfrm flipH="1">
            <a:off x="439268" y="3887195"/>
            <a:ext cx="49664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b="1" dirty="0"/>
              <a:t>Training set</a:t>
            </a:r>
            <a:r>
              <a:rPr lang="pl-PL" altLang="zh-CN" dirty="0"/>
              <a:t>: model learning</a:t>
            </a:r>
            <a:r>
              <a:rPr lang="en-US" altLang="zh-CN" dirty="0"/>
              <a:t> 70%</a:t>
            </a:r>
          </a:p>
          <a:p>
            <a:endParaRPr lang="en-US" altLang="zh-CN" dirty="0"/>
          </a:p>
          <a:p>
            <a:r>
              <a:rPr lang="en-US" altLang="zh-CN" b="1" dirty="0"/>
              <a:t>Validation set</a:t>
            </a:r>
            <a:r>
              <a:rPr lang="en-US" altLang="zh-CN" dirty="0"/>
              <a:t>: model selection and threshold tuning 15%</a:t>
            </a:r>
          </a:p>
          <a:p>
            <a:endParaRPr lang="en-US" altLang="zh-CN" dirty="0"/>
          </a:p>
          <a:p>
            <a:r>
              <a:rPr lang="en-US" altLang="zh-CN" b="1" dirty="0"/>
              <a:t>Test set</a:t>
            </a:r>
            <a:r>
              <a:rPr lang="en-US" altLang="zh-CN" dirty="0"/>
              <a:t>: final unbiased evaluation 15%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F1C35-9DD4-240D-E00E-7DB6CC491C1F}"/>
              </a:ext>
            </a:extLst>
          </p:cNvPr>
          <p:cNvSpPr txBox="1"/>
          <p:nvPr/>
        </p:nvSpPr>
        <p:spPr>
          <a:xfrm>
            <a:off x="5100915" y="4853221"/>
            <a:ext cx="2106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Encapsulated into a unified pipeline</a:t>
            </a:r>
            <a:endParaRPr lang="zh-CN" alt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E4695D-A068-100F-3704-1A24C435FF0C}"/>
              </a:ext>
            </a:extLst>
          </p:cNvPr>
          <p:cNvCxnSpPr>
            <a:cxnSpLocks/>
          </p:cNvCxnSpPr>
          <p:nvPr/>
        </p:nvCxnSpPr>
        <p:spPr>
          <a:xfrm>
            <a:off x="5387789" y="4607859"/>
            <a:ext cx="1416422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DF7F94-9D3A-B6C7-9B9B-D9B26DEC0126}"/>
              </a:ext>
            </a:extLst>
          </p:cNvPr>
          <p:cNvSpPr txBox="1"/>
          <p:nvPr/>
        </p:nvSpPr>
        <p:spPr>
          <a:xfrm>
            <a:off x="7279342" y="3802083"/>
            <a:ext cx="40072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dirty="0"/>
              <a:t>Numerical Processing</a:t>
            </a:r>
            <a:r>
              <a:rPr lang="en-US" altLang="zh-CN" dirty="0"/>
              <a:t>(</a:t>
            </a:r>
            <a:r>
              <a:rPr lang="pl-PL" altLang="zh-CN" dirty="0"/>
              <a:t>Yeo-Johnson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pl-PL" altLang="zh-CN" dirty="0"/>
              <a:t>Categorical Encoding</a:t>
            </a:r>
            <a:r>
              <a:rPr lang="en-US" altLang="zh-CN" dirty="0"/>
              <a:t>(</a:t>
            </a:r>
            <a:r>
              <a:rPr lang="pl-PL" altLang="zh-CN" dirty="0"/>
              <a:t>one-hot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pl-PL" altLang="zh-CN" dirty="0"/>
              <a:t>Class Imbalance Handling</a:t>
            </a:r>
            <a:r>
              <a:rPr lang="en-US" altLang="zh-CN" dirty="0"/>
              <a:t>(</a:t>
            </a:r>
            <a:r>
              <a:rPr lang="pl-PL" altLang="zh-CN" dirty="0"/>
              <a:t>SMOTE 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DD8AA7-964D-8B18-EBF3-EB79E5FCA831}"/>
              </a:ext>
            </a:extLst>
          </p:cNvPr>
          <p:cNvCxnSpPr/>
          <p:nvPr/>
        </p:nvCxnSpPr>
        <p:spPr>
          <a:xfrm>
            <a:off x="564776" y="3334871"/>
            <a:ext cx="112148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739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7F8016-B9EC-9678-5B37-AA77B43CE90D}"/>
              </a:ext>
            </a:extLst>
          </p:cNvPr>
          <p:cNvSpPr txBox="1"/>
          <p:nvPr/>
        </p:nvSpPr>
        <p:spPr>
          <a:xfrm>
            <a:off x="224117" y="143435"/>
            <a:ext cx="575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b="1" dirty="0"/>
              <a:t>Model Benchmarking and Hyperparameter Tuning</a:t>
            </a:r>
            <a:endParaRPr lang="zh-CN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96D44-D1D7-918C-BCD7-BD392F36A894}"/>
              </a:ext>
            </a:extLst>
          </p:cNvPr>
          <p:cNvSpPr txBox="1"/>
          <p:nvPr/>
        </p:nvSpPr>
        <p:spPr>
          <a:xfrm>
            <a:off x="224117" y="620344"/>
            <a:ext cx="8982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Random Forest</a:t>
            </a:r>
            <a:r>
              <a:rPr lang="en-US" altLang="zh-CN" dirty="0"/>
              <a:t> — ensemble of decision trees  </a:t>
            </a:r>
            <a:r>
              <a:rPr lang="pl-PL" altLang="zh-CN" dirty="0"/>
              <a:t>best CV F1 ≈ </a:t>
            </a:r>
            <a:r>
              <a:rPr lang="pl-PL" altLang="zh-CN" b="1" dirty="0"/>
              <a:t>0.68</a:t>
            </a:r>
            <a:endParaRPr lang="en-US" altLang="zh-CN" b="1" dirty="0"/>
          </a:p>
          <a:p>
            <a:r>
              <a:rPr lang="en-US" altLang="zh-CN" b="1" dirty="0" err="1"/>
              <a:t>XGBoost</a:t>
            </a:r>
            <a:r>
              <a:rPr lang="en-US" altLang="zh-CN" b="1" dirty="0"/>
              <a:t> </a:t>
            </a:r>
            <a:r>
              <a:rPr lang="en-US" altLang="zh-CN" dirty="0"/>
              <a:t>— gradient boosting decision trees  best CV F1 ≈ </a:t>
            </a:r>
            <a:r>
              <a:rPr lang="en-US" altLang="zh-CN" b="1" dirty="0"/>
              <a:t>0.67</a:t>
            </a:r>
          </a:p>
          <a:p>
            <a:r>
              <a:rPr lang="en-US" altLang="zh-CN" b="1" dirty="0"/>
              <a:t>Multi-Layer Perceptron (MLP)</a:t>
            </a:r>
            <a:r>
              <a:rPr lang="en-US" altLang="zh-CN" dirty="0"/>
              <a:t> — neural network–based classifier best CV F1 ≈ </a:t>
            </a:r>
            <a:r>
              <a:rPr lang="en-US" altLang="zh-CN" b="1" dirty="0"/>
              <a:t>0.64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28EEB-6218-0539-74C4-2554D8EBAD3C}"/>
              </a:ext>
            </a:extLst>
          </p:cNvPr>
          <p:cNvSpPr txBox="1"/>
          <p:nvPr/>
        </p:nvSpPr>
        <p:spPr>
          <a:xfrm>
            <a:off x="7808258" y="189601"/>
            <a:ext cx="4921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dirty="0"/>
              <a:t>Tuning Strategy</a:t>
            </a:r>
            <a:r>
              <a:rPr lang="en-US" altLang="zh-CN" dirty="0"/>
              <a:t>: </a:t>
            </a:r>
            <a:r>
              <a:rPr lang="pl-PL" altLang="zh-CN" dirty="0"/>
              <a:t>RandomizedSearchCV</a:t>
            </a:r>
            <a:endParaRPr lang="en-US" altLang="zh-CN" dirty="0"/>
          </a:p>
          <a:p>
            <a:r>
              <a:rPr lang="pl-PL" altLang="zh-CN" dirty="0"/>
              <a:t>Evaluation Metric</a:t>
            </a:r>
            <a:r>
              <a:rPr lang="en-US" altLang="zh-CN" dirty="0"/>
              <a:t>: F1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BC153B-E8A2-A49F-EA63-88F898782BC8}"/>
              </a:ext>
            </a:extLst>
          </p:cNvPr>
          <p:cNvSpPr txBox="1"/>
          <p:nvPr/>
        </p:nvSpPr>
        <p:spPr>
          <a:xfrm>
            <a:off x="1353671" y="1882588"/>
            <a:ext cx="589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Validation Results &amp; Decision Threshold Optimization</a:t>
            </a:r>
            <a:endParaRPr lang="zh-CN" altLang="en-US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E7645D-D681-F548-FEB0-8E1F76AACC3D}"/>
              </a:ext>
            </a:extLst>
          </p:cNvPr>
          <p:cNvCxnSpPr>
            <a:cxnSpLocks/>
          </p:cNvCxnSpPr>
          <p:nvPr/>
        </p:nvCxnSpPr>
        <p:spPr>
          <a:xfrm>
            <a:off x="1205755" y="1639325"/>
            <a:ext cx="0" cy="941293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426A1B0-92CB-259C-4BE7-35F2A9EF5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481193"/>
              </p:ext>
            </p:extLst>
          </p:nvPr>
        </p:nvGraphicFramePr>
        <p:xfrm>
          <a:off x="282385" y="2580618"/>
          <a:ext cx="11394145" cy="3617760"/>
        </p:xfrm>
        <a:graphic>
          <a:graphicData uri="http://schemas.openxmlformats.org/drawingml/2006/table">
            <a:tbl>
              <a:tblPr/>
              <a:tblGrid>
                <a:gridCol w="1627735">
                  <a:extLst>
                    <a:ext uri="{9D8B030D-6E8A-4147-A177-3AD203B41FA5}">
                      <a16:colId xmlns:a16="http://schemas.microsoft.com/office/drawing/2014/main" val="717697133"/>
                    </a:ext>
                  </a:extLst>
                </a:gridCol>
                <a:gridCol w="1627735">
                  <a:extLst>
                    <a:ext uri="{9D8B030D-6E8A-4147-A177-3AD203B41FA5}">
                      <a16:colId xmlns:a16="http://schemas.microsoft.com/office/drawing/2014/main" val="3420765501"/>
                    </a:ext>
                  </a:extLst>
                </a:gridCol>
                <a:gridCol w="1627735">
                  <a:extLst>
                    <a:ext uri="{9D8B030D-6E8A-4147-A177-3AD203B41FA5}">
                      <a16:colId xmlns:a16="http://schemas.microsoft.com/office/drawing/2014/main" val="2627577394"/>
                    </a:ext>
                  </a:extLst>
                </a:gridCol>
                <a:gridCol w="1627735">
                  <a:extLst>
                    <a:ext uri="{9D8B030D-6E8A-4147-A177-3AD203B41FA5}">
                      <a16:colId xmlns:a16="http://schemas.microsoft.com/office/drawing/2014/main" val="854906265"/>
                    </a:ext>
                  </a:extLst>
                </a:gridCol>
                <a:gridCol w="1627735">
                  <a:extLst>
                    <a:ext uri="{9D8B030D-6E8A-4147-A177-3AD203B41FA5}">
                      <a16:colId xmlns:a16="http://schemas.microsoft.com/office/drawing/2014/main" val="449868280"/>
                    </a:ext>
                  </a:extLst>
                </a:gridCol>
                <a:gridCol w="1627735">
                  <a:extLst>
                    <a:ext uri="{9D8B030D-6E8A-4147-A177-3AD203B41FA5}">
                      <a16:colId xmlns:a16="http://schemas.microsoft.com/office/drawing/2014/main" val="2903935126"/>
                    </a:ext>
                  </a:extLst>
                </a:gridCol>
                <a:gridCol w="1627735">
                  <a:extLst>
                    <a:ext uri="{9D8B030D-6E8A-4147-A177-3AD203B41FA5}">
                      <a16:colId xmlns:a16="http://schemas.microsoft.com/office/drawing/2014/main" val="3245943325"/>
                    </a:ext>
                  </a:extLst>
                </a:gridCol>
              </a:tblGrid>
              <a:tr h="31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Model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Threshold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Precision (Class 1)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dirty="0"/>
                        <a:t>Recall (Class 1)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F1 (Class 1)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Accuracy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700"/>
                        <a:t>Δ </a:t>
                      </a:r>
                      <a:r>
                        <a:rPr lang="pl-PL" sz="1700"/>
                        <a:t>F1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489225"/>
                  </a:ext>
                </a:extLst>
              </a:tr>
              <a:tr h="312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Random Forest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0.50 (default)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0.7685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0.9056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0.8315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0.9432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—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306326"/>
                  </a:ext>
                </a:extLst>
              </a:tr>
              <a:tr h="3127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0.665 (tuned)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0.8945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0.8007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0.8450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0.9546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 dirty="0">
                          <a:highlight>
                            <a:srgbClr val="FFFF00"/>
                          </a:highlight>
                        </a:rPr>
                        <a:t>+0.0135</a:t>
                      </a:r>
                      <a:endParaRPr lang="zh-CN" altLang="en-US" sz="1700" dirty="0">
                        <a:highlight>
                          <a:srgbClr val="FFFF00"/>
                        </a:highlight>
                      </a:endParaRP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333769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624129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XGBoost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0.50 (default)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0.6559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0.7133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0.6834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0.8978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—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46620"/>
                  </a:ext>
                </a:extLst>
              </a:tr>
              <a:tr h="3127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0.575 (tuned)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0.6901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0.6853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0.6877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0.9038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 dirty="0">
                          <a:highlight>
                            <a:srgbClr val="FFFF00"/>
                          </a:highlight>
                        </a:rPr>
                        <a:t>+0.0043</a:t>
                      </a:r>
                      <a:endParaRPr lang="zh-CN" altLang="en-US" sz="1700" dirty="0">
                        <a:highlight>
                          <a:srgbClr val="FFFF00"/>
                        </a:highlight>
                      </a:endParaRP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244312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206748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MLP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/>
                        <a:t>0.50 (default)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0.5440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0.8217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0.6546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0.8659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—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1700"/>
                  </a:ext>
                </a:extLst>
              </a:tr>
              <a:tr h="3127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700" b="1"/>
                        <a:t>0.680 (tuned)</a:t>
                      </a:r>
                      <a:endParaRPr lang="pl-PL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0.6258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/>
                        <a:t>0.7133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0.6667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/>
                        <a:t>0.8897</a:t>
                      </a:r>
                      <a:endParaRPr lang="zh-CN" altLang="en-US" sz="17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700" b="1" dirty="0">
                          <a:highlight>
                            <a:srgbClr val="FFFF00"/>
                          </a:highlight>
                        </a:rPr>
                        <a:t>+0.0121</a:t>
                      </a:r>
                      <a:endParaRPr lang="zh-CN" altLang="en-US" sz="1700" dirty="0">
                        <a:highlight>
                          <a:srgbClr val="FFFF00"/>
                        </a:highlight>
                      </a:endParaRP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099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83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CE8C42-4AA6-7F4A-E269-2A8C6B3D2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06" y="0"/>
            <a:ext cx="5181600" cy="3182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8901A2-DF8B-F59B-0A1D-550E91C3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546" y="0"/>
            <a:ext cx="5080748" cy="34803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26B8D4-C710-A116-D87D-271F9D747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42" y="3480389"/>
            <a:ext cx="4923863" cy="29515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E4C589-928A-71C1-4F97-6B61A29F2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698" y="3480389"/>
            <a:ext cx="5181596" cy="302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10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ECE5-A96A-DEE9-FE41-CD81F09CE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E2C150-F803-128C-EF8C-794DA1F3ED72}"/>
              </a:ext>
            </a:extLst>
          </p:cNvPr>
          <p:cNvSpPr txBox="1"/>
          <p:nvPr/>
        </p:nvSpPr>
        <p:spPr>
          <a:xfrm>
            <a:off x="537884" y="809767"/>
            <a:ext cx="112148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CN" dirty="0"/>
              <a:t>True Positives (TP)</a:t>
            </a:r>
            <a:endParaRPr lang="en-US" altLang="zh-CN" dirty="0"/>
          </a:p>
          <a:p>
            <a:r>
              <a:rPr lang="pl-PL" altLang="zh-CN" dirty="0"/>
              <a:t>True Negatives (TN)</a:t>
            </a:r>
            <a:endParaRPr lang="en-US" altLang="zh-CN" dirty="0"/>
          </a:p>
          <a:p>
            <a:r>
              <a:rPr lang="pl-PL" altLang="zh-CN" b="1" dirty="0"/>
              <a:t>False Positives (FP)</a:t>
            </a:r>
            <a:r>
              <a:rPr lang="en-US" altLang="zh-CN" b="1" dirty="0"/>
              <a:t> </a:t>
            </a:r>
          </a:p>
          <a:p>
            <a:r>
              <a:rPr lang="pl-PL" altLang="zh-CN" dirty="0"/>
              <a:t>represent wasted marketing efforts</a:t>
            </a:r>
            <a:r>
              <a:rPr lang="en-US" altLang="zh-CN" dirty="0"/>
              <a:t>   </a:t>
            </a:r>
          </a:p>
          <a:p>
            <a:r>
              <a:rPr lang="pl-PL" altLang="zh-CN" b="1" dirty="0"/>
              <a:t>False Negatives (FN)</a:t>
            </a:r>
            <a:endParaRPr lang="en-US" altLang="zh-CN" b="1" dirty="0"/>
          </a:p>
          <a:p>
            <a:r>
              <a:rPr lang="pl-PL" altLang="zh-CN" dirty="0"/>
              <a:t>represent missed revenue opportunities</a:t>
            </a:r>
            <a:r>
              <a:rPr lang="en-US" altLang="zh-CN" dirty="0"/>
              <a:t>    </a:t>
            </a:r>
          </a:p>
          <a:p>
            <a:r>
              <a:rPr lang="en-US" altLang="zh-CN" dirty="0"/>
              <a:t>             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0CEF75-4211-7293-8E55-60C28F9454D0}"/>
              </a:ext>
            </a:extLst>
          </p:cNvPr>
          <p:cNvSpPr txBox="1"/>
          <p:nvPr/>
        </p:nvSpPr>
        <p:spPr>
          <a:xfrm>
            <a:off x="439268" y="215152"/>
            <a:ext cx="421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zh-CN" b="1" dirty="0"/>
              <a:t>Error Analysis &amp; Model Diagnostics</a:t>
            </a:r>
            <a:endParaRPr lang="zh-CN" alt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8090D-3714-76D3-453A-7E89D0D2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81" y="399818"/>
            <a:ext cx="2669024" cy="1952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4F7B1-6B89-1AE4-65AC-FA7CEBD5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68" y="2653295"/>
            <a:ext cx="5419143" cy="3989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4FFAEC-AA82-D483-D5EC-F11C63218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76" y="2934542"/>
            <a:ext cx="4056432" cy="37083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5EA786E-8F15-352C-E188-FC55C515C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990" y="93450"/>
            <a:ext cx="4056431" cy="27476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CF477B-AAD9-D9D7-D86E-53F3F66CD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1141" y="3251041"/>
            <a:ext cx="2962270" cy="14733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E6CE2B-AB4D-2317-E014-2581298D66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4589" y="4910276"/>
            <a:ext cx="2725832" cy="158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1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35E3-B578-7DC0-1EB8-372FEEC6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9" y="430377"/>
            <a:ext cx="12044082" cy="2585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b="1" dirty="0"/>
              <a:t>For cost-based decision-making, probability </a:t>
            </a:r>
            <a:r>
              <a:rPr lang="en-US" altLang="zh-CN" sz="1600" b="1" i="1" dirty="0"/>
              <a:t>magnitude</a:t>
            </a:r>
            <a:r>
              <a:rPr lang="en-US" altLang="zh-CN" sz="1600" b="1" dirty="0"/>
              <a:t> matters, not just ranking.</a:t>
            </a:r>
          </a:p>
          <a:p>
            <a:pPr marL="0" indent="0">
              <a:buNone/>
            </a:pPr>
            <a:r>
              <a:rPr lang="en-US" altLang="zh-CN" sz="1600" b="1" dirty="0"/>
              <a:t>I wrapped the trained Random Forest using </a:t>
            </a:r>
            <a:r>
              <a:rPr lang="en-US" altLang="zh-CN" sz="1600" b="1" dirty="0" err="1"/>
              <a:t>CalibratedClassifierCV</a:t>
            </a:r>
            <a:r>
              <a:rPr lang="en-US" altLang="zh-CN" sz="1600" b="1" dirty="0"/>
              <a:t> with isotonic regression and internal cross-validation.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A0BA8-F4E1-6817-0AA6-1EB26E0335F8}"/>
              </a:ext>
            </a:extLst>
          </p:cNvPr>
          <p:cNvSpPr txBox="1"/>
          <p:nvPr/>
        </p:nvSpPr>
        <p:spPr>
          <a:xfrm>
            <a:off x="73959" y="1378977"/>
            <a:ext cx="3700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COST_FP = 1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COST_FN = 5           we have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752F4-0E4F-E852-9FA0-3B7DCDAC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369" y="1378977"/>
            <a:ext cx="2457143" cy="105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C92CF-BC7B-97E2-8232-BDD4F31C8F70}"/>
              </a:ext>
            </a:extLst>
          </p:cNvPr>
          <p:cNvSpPr txBox="1"/>
          <p:nvPr/>
        </p:nvSpPr>
        <p:spPr>
          <a:xfrm>
            <a:off x="5109479" y="1722882"/>
            <a:ext cx="177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≈ </a:t>
            </a:r>
            <a:r>
              <a:rPr lang="en-US" altLang="zh-CN" dirty="0"/>
              <a:t>0.24</a:t>
            </a:r>
            <a:endParaRPr lang="zh-CN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064694-3AB8-7CDE-054B-AF73F296E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101194"/>
              </p:ext>
            </p:extLst>
          </p:nvPr>
        </p:nvGraphicFramePr>
        <p:xfrm>
          <a:off x="191866" y="2521644"/>
          <a:ext cx="11749122" cy="4103275"/>
        </p:xfrm>
        <a:graphic>
          <a:graphicData uri="http://schemas.openxmlformats.org/drawingml/2006/table">
            <a:tbl>
              <a:tblPr/>
              <a:tblGrid>
                <a:gridCol w="1678446">
                  <a:extLst>
                    <a:ext uri="{9D8B030D-6E8A-4147-A177-3AD203B41FA5}">
                      <a16:colId xmlns:a16="http://schemas.microsoft.com/office/drawing/2014/main" val="421078333"/>
                    </a:ext>
                  </a:extLst>
                </a:gridCol>
                <a:gridCol w="1678446">
                  <a:extLst>
                    <a:ext uri="{9D8B030D-6E8A-4147-A177-3AD203B41FA5}">
                      <a16:colId xmlns:a16="http://schemas.microsoft.com/office/drawing/2014/main" val="3611310204"/>
                    </a:ext>
                  </a:extLst>
                </a:gridCol>
                <a:gridCol w="1678446">
                  <a:extLst>
                    <a:ext uri="{9D8B030D-6E8A-4147-A177-3AD203B41FA5}">
                      <a16:colId xmlns:a16="http://schemas.microsoft.com/office/drawing/2014/main" val="2553897964"/>
                    </a:ext>
                  </a:extLst>
                </a:gridCol>
                <a:gridCol w="1678446">
                  <a:extLst>
                    <a:ext uri="{9D8B030D-6E8A-4147-A177-3AD203B41FA5}">
                      <a16:colId xmlns:a16="http://schemas.microsoft.com/office/drawing/2014/main" val="4017922024"/>
                    </a:ext>
                  </a:extLst>
                </a:gridCol>
                <a:gridCol w="1678446">
                  <a:extLst>
                    <a:ext uri="{9D8B030D-6E8A-4147-A177-3AD203B41FA5}">
                      <a16:colId xmlns:a16="http://schemas.microsoft.com/office/drawing/2014/main" val="466034143"/>
                    </a:ext>
                  </a:extLst>
                </a:gridCol>
                <a:gridCol w="1678446">
                  <a:extLst>
                    <a:ext uri="{9D8B030D-6E8A-4147-A177-3AD203B41FA5}">
                      <a16:colId xmlns:a16="http://schemas.microsoft.com/office/drawing/2014/main" val="114677265"/>
                    </a:ext>
                  </a:extLst>
                </a:gridCol>
                <a:gridCol w="1678446">
                  <a:extLst>
                    <a:ext uri="{9D8B030D-6E8A-4147-A177-3AD203B41FA5}">
                      <a16:colId xmlns:a16="http://schemas.microsoft.com/office/drawing/2014/main" val="1658648984"/>
                    </a:ext>
                  </a:extLst>
                </a:gridCol>
              </a:tblGrid>
              <a:tr h="640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Policy / Strategy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Threshold Strategy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Precision (Class 1)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Recall (Class 1)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F1 (Class 1)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Accuracy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Expected Cost (TEST)</a:t>
                      </a:r>
                      <a:endParaRPr lang="pl-PL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50534"/>
                  </a:ext>
                </a:extLst>
              </a:tr>
              <a:tr h="640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Global cost-optimal</a:t>
                      </a:r>
                      <a:endParaRPr lang="pl-PL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Global threshold = </a:t>
                      </a:r>
                      <a:r>
                        <a:rPr lang="pl-PL" sz="1600" b="1"/>
                        <a:t>0.240</a:t>
                      </a:r>
                      <a:endParaRPr lang="pl-PL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0.6026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/>
                        <a:t>0.8112</a:t>
                      </a:r>
                      <a:endParaRPr lang="zh-CN" altLang="en-US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0.6915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0.8881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/>
                        <a:t>423.0</a:t>
                      </a:r>
                      <a:endParaRPr lang="zh-CN" altLang="en-US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152784"/>
                  </a:ext>
                </a:extLst>
              </a:tr>
              <a:tr h="992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Month-segmented</a:t>
                      </a:r>
                      <a:endParaRPr lang="pl-PL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Month-specific thresholds (VAL-optimized)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0.6261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0.7727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0.6917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/>
                        <a:t>0.8935</a:t>
                      </a:r>
                      <a:endParaRPr lang="zh-CN" altLang="en-US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457.0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686958"/>
                  </a:ext>
                </a:extLst>
              </a:tr>
              <a:tr h="914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VisitorType-segmented</a:t>
                      </a:r>
                      <a:endParaRPr lang="pl-PL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VisitorType-specific thresholds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0.6063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0.8077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/>
                        <a:t>0.6927</a:t>
                      </a:r>
                      <a:endParaRPr lang="zh-CN" altLang="en-US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0.8892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425.0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615909"/>
                  </a:ext>
                </a:extLst>
              </a:tr>
              <a:tr h="914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 b="1"/>
                        <a:t>Policy P4 (Nov-only + shrinkage)</a:t>
                      </a:r>
                      <a:endParaRPr lang="pl-PL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600"/>
                        <a:t>Global + November shrinkage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0.6026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0.8112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0.6915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/>
                        <a:t>0.8881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 dirty="0"/>
                        <a:t>423.0</a:t>
                      </a:r>
                      <a:endParaRPr lang="zh-CN" altLang="en-US" sz="16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35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41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E545-55E5-789A-1B53-C8F6DAD5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FB76-9C1D-6320-0DF2-7FFE0501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44" y="528377"/>
            <a:ext cx="12044082" cy="6364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altLang="zh-CN" b="1" dirty="0"/>
              <a:t>Business Insight </a:t>
            </a:r>
            <a:endParaRPr lang="zh-CN" altLang="en-US" sz="4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A8004-696D-9999-F309-328C1CB92581}"/>
              </a:ext>
            </a:extLst>
          </p:cNvPr>
          <p:cNvSpPr txBox="1"/>
          <p:nvPr/>
        </p:nvSpPr>
        <p:spPr>
          <a:xfrm>
            <a:off x="546444" y="1538216"/>
            <a:ext cx="110359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High-intent sessions exhibit consistent behavioral patterns that can be detected before conversion.</a:t>
            </a:r>
          </a:p>
          <a:p>
            <a:endParaRPr lang="en-US" altLang="zh-CN" sz="2400" dirty="0"/>
          </a:p>
          <a:p>
            <a:r>
              <a:rPr lang="en-US" altLang="zh-CN" sz="2400" dirty="0"/>
              <a:t>Many false positives are not noise, but high-intent sessions that failed to convert due to external frictions.</a:t>
            </a:r>
          </a:p>
          <a:p>
            <a:endParaRPr lang="en-US" altLang="zh-CN" sz="2400" dirty="0"/>
          </a:p>
          <a:p>
            <a:r>
              <a:rPr lang="en-US" altLang="zh-CN" sz="2400" dirty="0"/>
              <a:t>Model accuracy alone is not actionable.</a:t>
            </a:r>
            <a:br>
              <a:rPr lang="en-US" altLang="zh-CN" sz="2400" dirty="0"/>
            </a:br>
            <a:r>
              <a:rPr lang="en-US" altLang="zh-CN" sz="2400" dirty="0"/>
              <a:t>Decision thresholds directly control business trade-offs.</a:t>
            </a:r>
          </a:p>
          <a:p>
            <a:endParaRPr lang="en-US" altLang="zh-CN" sz="2400" dirty="0"/>
          </a:p>
          <a:p>
            <a:r>
              <a:rPr lang="en-US" altLang="zh-CN" sz="2400" dirty="0"/>
              <a:t>False negatives are significantly more costly than false positives in e-commerce.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743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539</Words>
  <Application>Microsoft Office PowerPoint</Application>
  <PresentationFormat>Widescreen</PresentationFormat>
  <Paragraphs>145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 Li</dc:creator>
  <cp:lastModifiedBy>Xiao Li</cp:lastModifiedBy>
  <cp:revision>2</cp:revision>
  <dcterms:created xsi:type="dcterms:W3CDTF">2026-01-09T03:25:00Z</dcterms:created>
  <dcterms:modified xsi:type="dcterms:W3CDTF">2026-01-09T04:43:07Z</dcterms:modified>
</cp:coreProperties>
</file>